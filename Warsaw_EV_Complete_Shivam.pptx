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1D1"/>
    <a:srgbClr val="6B7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-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64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2E4A7A">
              <a:alpha val="28000"/>
            </a:srgbClr>
          </a:solidFill>
          <a:ln w="12700">
            <a:solidFill>
              <a:srgbClr val="2E4A7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286000" cy="2286000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7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DATA ANALYTICS  ·  WARSAW, POLAND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6858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Warsaw EV Charging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Analysis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6334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 ·  Power BI Dashboard  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V="1">
            <a:off x="571500" y="3017521"/>
            <a:ext cx="2674620" cy="45719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004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456432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Shivam Dhunotiya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·  Warsaw EV Infrastructure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3520440"/>
            <a:ext cx="749808" cy="1234440"/>
          </a:xfrm>
          <a:prstGeom prst="rect">
            <a:avLst/>
          </a:prstGeom>
          <a:solidFill>
            <a:srgbClr val="2E4A7A">
              <a:alpha val="55000"/>
            </a:srgbClr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3584448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7880" y="4114800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3520440"/>
            <a:ext cx="749808" cy="1234440"/>
          </a:xfrm>
          <a:prstGeom prst="rect">
            <a:avLst/>
          </a:prstGeom>
          <a:solidFill>
            <a:srgbClr val="2E4A7A">
              <a:alpha val="55000"/>
            </a:srgbClr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584448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4114800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43800" y="3520440"/>
            <a:ext cx="749808" cy="1234440"/>
          </a:xfrm>
          <a:prstGeom prst="rect">
            <a:avLst/>
          </a:prstGeom>
          <a:solidFill>
            <a:srgbClr val="2E4A7A">
              <a:alpha val="55000"/>
            </a:srgbClr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3584448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43800" y="4114800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366760" y="3520440"/>
            <a:ext cx="749808" cy="1234440"/>
          </a:xfrm>
          <a:prstGeom prst="rect">
            <a:avLst/>
          </a:prstGeom>
          <a:solidFill>
            <a:srgbClr val="2E4A7A">
              <a:alpha val="55000"/>
            </a:srgbClr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3584448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4114800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75488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Stack: MySQL  ·  Power BI  ·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2920" y="27614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queries — from basic exploration to advanced infrastructure gap analysis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383280"/>
            <a:ext cx="276148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7673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05993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· Stations · Plugs · Sessions · Avg kWh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3383280"/>
            <a:ext cx="276148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Q6–Q10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7673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66160" y="405993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Energy · Top Stations · Cost by Tier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55080" y="3383280"/>
            <a:ext cx="276148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Q11–Q14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7673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405993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vs Plugs Gap · Demand per EV · Readiness Ranking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Q1 &amp; Q2  ·  BASIC LEVEL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Districts, Income Tiers &amp; Station Count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foundation — understanding how Warsaw's districts and stations are distributed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2893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 —  Districts &amp; Income Tiers</a:t>
            </a:r>
            <a:endParaRPr lang="en-US" sz="1100" dirty="0"/>
          </a:p>
        </p:txBody>
      </p:sp>
      <p:pic>
        <p:nvPicPr>
          <p:cNvPr id="6" name="Image 0" descr="doc_image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00200"/>
            <a:ext cx="393192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503420"/>
            <a:ext cx="3931920" cy="544068"/>
          </a:xfrm>
          <a:prstGeom prst="roundRect">
            <a:avLst>
              <a:gd name="adj" fmla="val 18421"/>
            </a:avLst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63829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 income tiers across 18 districts — High: 3, Mid-Range: 6, Low-Mid: 9. Income tier directly shapes charging cost and revenue per session.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54880" y="12893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 —  Stations per District</a:t>
            </a:r>
            <a:endParaRPr lang="en-US" sz="1100" dirty="0"/>
          </a:p>
        </p:txBody>
      </p:sp>
      <p:pic>
        <p:nvPicPr>
          <p:cNvPr id="10" name="Image 1" descr="doc_images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00200"/>
            <a:ext cx="3977640" cy="2743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4503420"/>
            <a:ext cx="3977640" cy="544068"/>
          </a:xfrm>
          <a:prstGeom prst="roundRect">
            <a:avLst>
              <a:gd name="adj" fmla="val 18421"/>
            </a:avLst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465048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Ursynów leads with 12 stations, Wesoła has 11. Several districts have only 2, and 5 districts have zero stations entirely — a clear infrastructure gap.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Q3, Q4 &amp; Q5  ·  BASIC LEVEL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Plugs, Sessions &amp; Average Energy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network metrics — how many plugs exist, how many sessions happened, and how much energy was delivered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—  Total Plugs per District</a:t>
            </a:r>
            <a:endParaRPr lang="en-US" sz="1050" dirty="0"/>
          </a:p>
        </p:txBody>
      </p:sp>
      <p:pic>
        <p:nvPicPr>
          <p:cNvPr id="6" name="Image 0" descr="doc_image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64208"/>
            <a:ext cx="274320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096512"/>
            <a:ext cx="2743200" cy="790956"/>
          </a:xfrm>
          <a:prstGeom prst="roundRect">
            <a:avLst>
              <a:gd name="adj" fmla="val 13462"/>
            </a:avLst>
          </a:prstGeom>
          <a:solidFill>
            <a:srgbClr val="E65100">
              <a:alpha val="12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99965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Ursynów has 72 plugs, Wesoła 66. Total of 390 plugs across 13 districts — 5 districts have zero plug coverage.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337560" y="13898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—  Total Charging Sessions</a:t>
            </a:r>
            <a:endParaRPr lang="en-US" sz="1050" dirty="0"/>
          </a:p>
        </p:txBody>
      </p:sp>
      <p:pic>
        <p:nvPicPr>
          <p:cNvPr id="10" name="Image 1" descr="doc_images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64208"/>
            <a:ext cx="2743200" cy="2377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4096512"/>
            <a:ext cx="2743200" cy="790956"/>
          </a:xfrm>
          <a:prstGeom prst="roundRect">
            <a:avLst>
              <a:gd name="adj" fmla="val 13462"/>
            </a:avLst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74720" y="4299965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114,000 total sessions recorded across all stations. This is a substantial dataset showing strong and consistent EV usage across Warsaw.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263640" y="13898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—  Avg Energy per Session (kWh)</a:t>
            </a:r>
            <a:endParaRPr lang="en-US" sz="1050" dirty="0"/>
          </a:p>
        </p:txBody>
      </p:sp>
      <p:pic>
        <p:nvPicPr>
          <p:cNvPr id="14" name="Image 2" descr="doc_images/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664208"/>
            <a:ext cx="2468880" cy="23774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63640" y="4096511"/>
            <a:ext cx="2544604" cy="790957"/>
          </a:xfrm>
          <a:prstGeom prst="roundRect">
            <a:avLst>
              <a:gd name="adj" fmla="val 13462"/>
            </a:avLst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0" y="4297679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39.13 kWh average per session. Premium EVs like Audi e-tron (62 kWh) and Porsche Taycan (60 kWh) push this average up significantly.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Q6 &amp; Q7  ·  INTERMEDIATE LEVEL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by District &amp; Top Stations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districts deliver the most energy, and which stations handle the highest session load?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—  Total Energy Charged (kWh) by District</a:t>
            </a:r>
            <a:endParaRPr lang="en-US" sz="1100" dirty="0"/>
          </a:p>
        </p:txBody>
      </p:sp>
      <p:pic>
        <p:nvPicPr>
          <p:cNvPr id="6" name="Image 0" descr="doc_images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64208"/>
            <a:ext cx="393192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370832"/>
            <a:ext cx="3931920" cy="594074"/>
          </a:xfrm>
          <a:prstGeom prst="roundRect">
            <a:avLst>
              <a:gd name="adj" fmla="val 13462"/>
            </a:avLst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73845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Ursynów leads with 820,630 kWh, followed by Wesoła at 767,641 kWh. Together they account for 36% of all energy delivered across the network.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54880" y="13898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 —  Top 5 Stations by Session Count</a:t>
            </a:r>
            <a:endParaRPr lang="en-US" sz="1100" dirty="0"/>
          </a:p>
        </p:txBody>
      </p:sp>
      <p:pic>
        <p:nvPicPr>
          <p:cNvPr id="10" name="Image 1" descr="doc_image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64208"/>
            <a:ext cx="3977640" cy="2651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4370832"/>
            <a:ext cx="3977640" cy="594074"/>
          </a:xfrm>
          <a:prstGeom prst="roundRect">
            <a:avLst>
              <a:gd name="adj" fmla="val 13462"/>
            </a:avLst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4475845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Top 5 stations range from 1,811 to 1,856 sessions — a very tight spread of just 45, which shows these high-demand stations are all working at near-equal capacity.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Q8 &amp; Q9  ·  INTERMEDIATE LEVEL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District &amp; Cost by Income Tier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money coming from — and which customer segment pays the most per session?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 —  Total Revenue per District (zł)</a:t>
            </a:r>
            <a:endParaRPr lang="en-US" sz="1100" dirty="0"/>
          </a:p>
        </p:txBody>
      </p:sp>
      <p:pic>
        <p:nvPicPr>
          <p:cNvPr id="6" name="Image 0" descr="doc_images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64208"/>
            <a:ext cx="393192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370832"/>
            <a:ext cx="3931920" cy="601218"/>
          </a:xfrm>
          <a:prstGeom prst="roundRect">
            <a:avLst>
              <a:gd name="adj" fmla="val 13462"/>
            </a:avLst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63129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Ursynów generated zł2.10M and Wesoła zł1.96M — together 36% of total zł11.42M revenue. Revenue closely mirrors session volume and plug count.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54880" y="13898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 —  Avg Session Cost by Income Tier (zł)</a:t>
            </a:r>
            <a:endParaRPr lang="en-US" sz="1100" dirty="0"/>
          </a:p>
        </p:txBody>
      </p:sp>
      <p:pic>
        <p:nvPicPr>
          <p:cNvPr id="10" name="Image 1" descr="doc_images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64208"/>
            <a:ext cx="3977640" cy="2651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4370832"/>
            <a:ext cx="3977640" cy="601218"/>
          </a:xfrm>
          <a:prstGeom prst="roundRect">
            <a:avLst>
              <a:gd name="adj" fmla="val 13462"/>
            </a:avLst>
          </a:prstGeom>
          <a:solidFill>
            <a:srgbClr val="C62828">
              <a:alpha val="12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4479417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High-income customers pay zł142.45 per session — that's 89% more than Low-Mid customers (zł75.19). Yet High-income zones have the fewest stations. Biggest missed revenue opportunity.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Q10  ·  INTERMEDIATE LEVEL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Energy Charged per Customer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much energy each individual customer consumes across their lifetime on the network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  —  Average kWh Charged per Customer</a:t>
            </a:r>
            <a:endParaRPr lang="en-US" sz="1200" dirty="0"/>
          </a:p>
        </p:txBody>
      </p:sp>
      <p:pic>
        <p:nvPicPr>
          <p:cNvPr id="6" name="Image 0" descr="doc_images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82496"/>
            <a:ext cx="50292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0" y="1389888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557.53 kWh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77393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energy charged per customer across the dataset period — equivalent to roughly 9 full charge cycles for a standard 60 kWh battery.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0" y="2596896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2688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298094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figure tells us customers are returning frequently. An avg of 557 kWh per customer, with 114K sessions and 8K customers = ~14 sessions per customer on average.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15000" y="3803904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3895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signal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52160" y="418795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average energy per customer is a strong indicator of loyal, repeat usage. These customers are good candidates for subscription or loyalty pricing programs.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Q11 &amp; Q12  ·  ADVANCED LEVEL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EVs vs Available Plugs — The Gap Problem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10607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what's planned against what exists: Warsaw's infrastructure readiness crisis in numbers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 —  Projected EVs vs Actual Plugs per District</a:t>
            </a:r>
            <a:endParaRPr lang="en-US" sz="1100" dirty="0"/>
          </a:p>
        </p:txBody>
      </p:sp>
      <p:pic>
        <p:nvPicPr>
          <p:cNvPr id="6" name="Image 0" descr="doc_images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64208"/>
            <a:ext cx="393192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370832"/>
            <a:ext cx="3931920" cy="559308"/>
          </a:xfrm>
          <a:prstGeom prst="roundRect">
            <a:avLst>
              <a:gd name="adj" fmla="val 13462"/>
            </a:avLst>
          </a:prstGeom>
          <a:solidFill>
            <a:srgbClr val="C62828">
              <a:alpha val="12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5846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37,100 EVs projected vs only 390 actual plugs. Every single district has far more EVs coming than plugs available — this is a city-wide infrastructure emergency.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54880" y="13898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 —  Districts Where Projected EVs Exceed Plugs</a:t>
            </a:r>
            <a:endParaRPr lang="en-US" sz="1100" dirty="0"/>
          </a:p>
        </p:txBody>
      </p:sp>
      <p:pic>
        <p:nvPicPr>
          <p:cNvPr id="10" name="Image 1" descr="doc_images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64208"/>
            <a:ext cx="3977640" cy="2651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4370832"/>
            <a:ext cx="3977640" cy="559308"/>
          </a:xfrm>
          <a:prstGeom prst="roundRect">
            <a:avLst>
              <a:gd name="adj" fmla="val 13462"/>
            </a:avLst>
          </a:prstGeom>
          <a:solidFill>
            <a:srgbClr val="C62828">
              <a:alpha val="12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446151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All 18 districts flagged. Worst: Mokotów (3,394 EV gap), Wola (3,200), Wilanów (3,006). 5 districts have zero plugs with thousands of EVs on the way.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487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Q13 &amp; Q14  ·  ADVANCED LEVEL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per Projected EV &amp; Infrastructure Readiness Rank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5308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districts are over-served? Which are in crisis? Ranking Warsaw's charging readiness district by district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 —  kWh Demand per Projected EV</a:t>
            </a:r>
            <a:endParaRPr lang="en-US" sz="1100" dirty="0"/>
          </a:p>
        </p:txBody>
      </p:sp>
      <p:pic>
        <p:nvPicPr>
          <p:cNvPr id="6" name="Image 0" descr="doc_images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64208"/>
            <a:ext cx="393192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370832"/>
            <a:ext cx="3931920" cy="589788"/>
          </a:xfrm>
          <a:prstGeom prst="roundRect">
            <a:avLst>
              <a:gd name="adj" fmla="val 13462"/>
            </a:avLst>
          </a:prstGeom>
          <a:solidFill>
            <a:srgbClr val="E65100">
              <a:alpha val="12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7370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Wesoła has 1,096 kWh per projected EV — it's massively over-served. Most districts average well below 300 kWh/EV, showing just how thin coverage is across the city.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754880" y="13898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 —  Infrastructure Readiness Ranking</a:t>
            </a:r>
            <a:endParaRPr lang="en-US" sz="1100" dirty="0"/>
          </a:p>
        </p:txBody>
      </p:sp>
      <p:pic>
        <p:nvPicPr>
          <p:cNvPr id="10" name="Image 1" descr="doc_images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64208"/>
            <a:ext cx="3977640" cy="2651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4370832"/>
            <a:ext cx="3977640" cy="589788"/>
          </a:xfrm>
          <a:prstGeom prst="roundRect">
            <a:avLst>
              <a:gd name="adj" fmla="val 13462"/>
            </a:avLst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447370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Wesoła ranks #1 at 314% readiness — the only over-served district. Mokotów, Wola, and 5 zero-coverage districts sit at the very bottom of the readiness ladder.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 · 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Things the Queries Told 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doesn't lie — here's what 14 SQL queries uncovered about Warsaw's EV network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779776" cy="1664208"/>
          </a:xfrm>
          <a:prstGeom prst="roundRect">
            <a:avLst>
              <a:gd name="adj" fmla="val 5495"/>
            </a:avLst>
          </a:prstGeom>
          <a:solidFill>
            <a:srgbClr val="EEF3FB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961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Districts Have Zero Coverage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Bielany, Praga Południe, Białołęka, Praga Północ &amp; Wawer have no stations despite projecting 9,300+ EVs combined.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389888"/>
            <a:ext cx="2779776" cy="1664208"/>
          </a:xfrm>
          <a:prstGeom prst="roundRect">
            <a:avLst>
              <a:gd name="adj" fmla="val 5495"/>
            </a:avLst>
          </a:prstGeom>
          <a:solidFill>
            <a:srgbClr val="EEF3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49961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Ursynów Carries the Network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93008" y="18470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stations, 72 plugs, zł2.10M revenue — one district contributing ~18% of total network output.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0216" y="1389888"/>
            <a:ext cx="2779776" cy="1664208"/>
          </a:xfrm>
          <a:prstGeom prst="roundRect">
            <a:avLst>
              <a:gd name="adj" fmla="val 5495"/>
            </a:avLst>
          </a:prstGeom>
          <a:solidFill>
            <a:srgbClr val="EEF3FB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49961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Pays 89% More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37376" y="18470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zł142.45 vs zł75.19 per session. But they have the fewest stations — that's the biggest missed revenue opportunity.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00400"/>
            <a:ext cx="2779776" cy="1664208"/>
          </a:xfrm>
          <a:prstGeom prst="roundRect">
            <a:avLst>
              <a:gd name="adj" fmla="val 5495"/>
            </a:avLst>
          </a:prstGeom>
          <a:solidFill>
            <a:srgbClr val="EEF3FB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101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Districts Are Under-Plugged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37,100 projected EVs, only 390 actual plugs. Total gap = 671 plugs. Every single district is flagged as deficit.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5848" y="3200400"/>
            <a:ext cx="2779776" cy="1664208"/>
          </a:xfrm>
          <a:prstGeom prst="roundRect">
            <a:avLst>
              <a:gd name="adj" fmla="val 5495"/>
            </a:avLst>
          </a:prstGeom>
          <a:solidFill>
            <a:srgbClr val="EEF3FB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33101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Wesoła Is Over-Served at 314%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93008" y="36576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actual plugs vs 21 projected. Investment here is saturated — future capital should go elsewhere.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0216" y="3200400"/>
            <a:ext cx="2779776" cy="1664208"/>
          </a:xfrm>
          <a:prstGeom prst="roundRect">
            <a:avLst>
              <a:gd name="adj" fmla="val 5495"/>
            </a:avLst>
          </a:prstGeom>
          <a:solidFill>
            <a:srgbClr val="EEF3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331012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= Best ROI for Expansion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37376" y="365760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stations, 52,323 sessions, zł5.25M revenue (46% of total). Most consistent demand density in the city.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2E4A7A">
              <a:alpha val="28000"/>
            </a:srgbClr>
          </a:solidFill>
          <a:ln w="12700">
            <a:solidFill>
              <a:srgbClr val="2E4A7A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E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pages — infrastructure, usage, customer behaviour, and revenue planning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401568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3794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79192" y="3401568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43B8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3794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Usage &amp; Demand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55464" y="3401568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E8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65192" y="3794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31736" y="3401568"/>
            <a:ext cx="2011680" cy="1481328"/>
          </a:xfrm>
          <a:prstGeom prst="roundRect">
            <a:avLst>
              <a:gd name="adj" fmla="val 6173"/>
            </a:avLst>
          </a:prstGeom>
          <a:solidFill>
            <a:srgbClr val="FFFFFF">
              <a:alpha val="12000"/>
            </a:srgbClr>
          </a:solidFill>
          <a:ln w="15240">
            <a:solidFill>
              <a:srgbClr val="E05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41464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41464" y="3794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Planning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PAGE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Overview</a:t>
            </a:r>
            <a:endParaRPr lang="en-US" sz="2800" dirty="0"/>
          </a:p>
        </p:txBody>
      </p:sp>
      <p:pic>
        <p:nvPicPr>
          <p:cNvPr id="5" name="Image 0" descr="doc_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66800"/>
            <a:ext cx="8321040" cy="3304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Ursynów + Wesoła = 35% of all plugs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1208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 districts hold 138 of 390 total plugs.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65576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tier dominates at 46%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65576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districts have just 20% of stations despite paying 89% more per session.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00216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districts have zero infrastructure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9944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Bielany, Praga Pd., Białołęka, Praga Pn., Wawer — completely unserved.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PAGE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Charging Usage &amp; Demand Analysis</a:t>
            </a:r>
            <a:endParaRPr lang="en-US" sz="2800" dirty="0"/>
          </a:p>
        </p:txBody>
      </p:sp>
      <p:pic>
        <p:nvPicPr>
          <p:cNvPr id="5" name="Image 0" descr="doc_image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89660"/>
            <a:ext cx="8321040" cy="32811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 is peak, not morning commute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1208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plateau from 8 AM–3 PM. Noon is the single busiest hour at 7,248 sessions.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65576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is the busiest day (16,727)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65576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is weakest at 15,253 — just 9% lower. EV charging is a daily habit across the week.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00216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Ursynów leads energy output at 0.82M kWh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9944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Wesoła is second at 0.77M. Both districts are heavily over-reliant on for network supply.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PAGE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Behaviour Analysis</a:t>
            </a:r>
            <a:endParaRPr lang="en-US" sz="2800" dirty="0"/>
          </a:p>
        </p:txBody>
      </p:sp>
      <p:pic>
        <p:nvPicPr>
          <p:cNvPr id="5" name="Image 0" descr="doc_image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9180"/>
            <a:ext cx="8321040" cy="33116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customers = biggest segment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1208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customers (49.88%), 1.85M kWh consumed, zł5.25M revenue. The backbone of the network.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E651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65576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 e-tron tops energy use at 62 kWh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65576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EVs (Porsche 60, Mach-E 59) consistently charge more per session — more revenue per visit.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00216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C5499 consumed 1,898 kWh total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9944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all above 1,500 kWh. These are power users and prime loyalty program targets.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PAGE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Planning Insights</a:t>
            </a:r>
            <a:endParaRPr lang="en-US" sz="2800" dirty="0"/>
          </a:p>
        </p:txBody>
      </p:sp>
      <p:pic>
        <p:nvPicPr>
          <p:cNvPr id="5" name="Image 0" descr="doc_image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9180"/>
            <a:ext cx="8321040" cy="33116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" y="4462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Mokotów has the largest deficit: 3,394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1208" y="47137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Wola at 3,200 and Wilanów at 3,006 follow closely. These need immediate infrastructure investment.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65576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Ursynów + Wesoła = 36% of revenue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65576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zł2.10M + zł1.96M = zł4.06M. The network depends heavily on just 2 districts for revenue.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00216" y="4462272"/>
            <a:ext cx="2779776" cy="640080"/>
          </a:xfrm>
          <a:prstGeom prst="roundRect">
            <a:avLst>
              <a:gd name="adj" fmla="val 11429"/>
            </a:avLst>
          </a:prstGeom>
          <a:solidFill>
            <a:srgbClr val="EEF3FB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44698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cost is zł100.21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9944" y="47137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station is zł175.75K. Adding plugs in High-income zones would raise both metrics significantly.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601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 · 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56616" y="2788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I'd Tell Warsaw's EV Infrastructure Team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909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priorities that follow directly from the SQL analysis, dashboard findings, and ML model outputs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2338" y="1129284"/>
            <a:ext cx="4224528" cy="1213866"/>
          </a:xfrm>
          <a:prstGeom prst="roundRect">
            <a:avLst>
              <a:gd name="adj" fmla="val 6452"/>
            </a:avLst>
          </a:prstGeom>
          <a:solidFill>
            <a:srgbClr val="EEF3FB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" y="1257300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6300" y="130454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stations in 5 zero-coverage districts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6740" y="1520190"/>
            <a:ext cx="39684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Bielany, Praga Pd., Białołęka, Praga Pn. &amp; Wawer project 9,300+ EVs with zero plugs. This is the single most urgent fix.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811268" y="1144524"/>
            <a:ext cx="4224528" cy="1213866"/>
          </a:xfrm>
          <a:prstGeom prst="roundRect">
            <a:avLst>
              <a:gd name="adj" fmla="val 6452"/>
            </a:avLst>
          </a:prstGeom>
          <a:solidFill>
            <a:srgbClr val="EEF3FB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20996" y="1260348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23916" y="1291590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High-income zones to capture lost revenue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17592" y="1555242"/>
            <a:ext cx="39684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High-tier customers pay zł142/session — 89% more than Low-Mid. Adding 100 plugs in Śródmieście, Żoliborz &amp; Wilanów could unlock zł3M+ annually.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02338" y="2510028"/>
            <a:ext cx="4224528" cy="1213866"/>
          </a:xfrm>
          <a:prstGeom prst="roundRect">
            <a:avLst>
              <a:gd name="adj" fmla="val 6452"/>
            </a:avLst>
          </a:prstGeom>
          <a:solidFill>
            <a:srgbClr val="EEF3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" y="2638044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" y="2681097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Dynamic pricing in peak window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70" y="2961132"/>
            <a:ext cx="39684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'Sessions by Hour' confirms 8 AM–3 PM plateau as peak demand window. Time-of-use pricing here would </a:t>
            </a:r>
            <a:r>
              <a:rPr lang="en-US" sz="98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grid load and increase revenue per session by an estimated 15–20%.</a:t>
            </a:r>
            <a:endParaRPr lang="en-US" sz="980" dirty="0">
              <a:solidFill>
                <a:srgbClr val="6B7A99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11268" y="2500884"/>
            <a:ext cx="4224528" cy="1213866"/>
          </a:xfrm>
          <a:prstGeom prst="roundRect">
            <a:avLst>
              <a:gd name="adj" fmla="val 6452"/>
            </a:avLst>
          </a:prstGeom>
          <a:solidFill>
            <a:srgbClr val="EEF3FB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610612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58384" y="2681097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Over-Investment Away from </a:t>
            </a:r>
            <a:r>
              <a:rPr lang="en-US" sz="1100" b="1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Wesoła</a:t>
            </a:r>
            <a:endParaRPr lang="en-US" sz="1100" b="1" dirty="0">
              <a:solidFill>
                <a:srgbClr val="1A2B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22164" y="2961132"/>
            <a:ext cx="39684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Q14 confirms </a:t>
            </a:r>
            <a:r>
              <a:rPr lang="en-US" sz="98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Wesoła</a:t>
            </a: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314.3% readiness — massively over-served. Station ROI there is saturated. Future capital must flow to the 13 districts below 70% readiness.</a:t>
            </a:r>
          </a:p>
        </p:txBody>
      </p:sp>
      <p:sp>
        <p:nvSpPr>
          <p:cNvPr id="21" name="Shape 19"/>
          <p:cNvSpPr/>
          <p:nvPr/>
        </p:nvSpPr>
        <p:spPr>
          <a:xfrm>
            <a:off x="2570988" y="3881628"/>
            <a:ext cx="4224528" cy="1117092"/>
          </a:xfrm>
          <a:prstGeom prst="roundRect">
            <a:avLst>
              <a:gd name="adj" fmla="val 6452"/>
            </a:avLst>
          </a:prstGeom>
          <a:solidFill>
            <a:srgbClr val="EEF3FB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0904" y="3941826"/>
            <a:ext cx="402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55620" y="4009644"/>
            <a:ext cx="35112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Mid-Range Districts as Growth Engine</a:t>
            </a:r>
          </a:p>
        </p:txBody>
      </p:sp>
      <p:sp>
        <p:nvSpPr>
          <p:cNvPr id="24" name="Text 22"/>
          <p:cNvSpPr/>
          <p:nvPr/>
        </p:nvSpPr>
        <p:spPr>
          <a:xfrm>
            <a:off x="2862072" y="4190238"/>
            <a:ext cx="39684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delivers zł5.25M (46% of revenue) from 30 stations. SQL Q8 and PBI Page 4 both confirm this tier has the most consistent demand density and highest predictable ROI for scale.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5486400" cy="5486400"/>
          </a:xfrm>
          <a:prstGeom prst="ellipse">
            <a:avLst/>
          </a:prstGeom>
          <a:solidFill>
            <a:srgbClr val="2E4A7A">
              <a:alpha val="25000"/>
            </a:srgbClr>
          </a:solidFill>
          <a:ln w="12700">
            <a:solidFill>
              <a:srgbClr val="2E4A7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828800"/>
            <a:ext cx="5486400" cy="5486400"/>
          </a:xfrm>
          <a:prstGeom prst="ellipse">
            <a:avLst/>
          </a:prstGeom>
          <a:solidFill>
            <a:srgbClr val="1A4A7A">
              <a:alpha val="30000"/>
            </a:srgbClr>
          </a:solidFill>
          <a:ln w="12700">
            <a:solidFill>
              <a:srgbClr val="1A4A7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3200400" y="2176272"/>
            <a:ext cx="2743200" cy="20117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Shivam Dhunotiya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32186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·  Warsaw EV Infrastructure Team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Warsaw EV Charging Network Analytics  ·  SQL + Power BI   · 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4315968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36168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4645152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48840" y="4315968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3B8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436168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48840" y="4645152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86200" y="4315968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436168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zł11.42M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86200" y="4645152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4315968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05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436168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23560" y="4645152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60920" y="4315968"/>
            <a:ext cx="1572768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A78B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436168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645152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1705</Words>
  <Application>Microsoft Office PowerPoint</Application>
  <PresentationFormat>On-screen Show (16:9)</PresentationFormat>
  <Paragraphs>190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Shivam Dhunotiya</cp:lastModifiedBy>
  <cp:revision>2</cp:revision>
  <dcterms:created xsi:type="dcterms:W3CDTF">2026-05-08T10:28:29Z</dcterms:created>
  <dcterms:modified xsi:type="dcterms:W3CDTF">2026-05-09T07:49:57Z</dcterms:modified>
</cp:coreProperties>
</file>